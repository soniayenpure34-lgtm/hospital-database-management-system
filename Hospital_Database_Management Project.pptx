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60" r:id="rId5"/>
    <p:sldId id="261" r:id="rId6"/>
    <p:sldId id="262" r:id="rId7"/>
    <p:sldId id="263" r:id="rId8"/>
    <p:sldId id="265" r:id="rId9"/>
    <p:sldId id="266" r:id="rId10"/>
    <p:sldId id="267" r:id="rId11"/>
    <p:sldId id="268" r:id="rId12"/>
    <p:sldId id="269" r:id="rId13"/>
    <p:sldId id="270" r:id="rId14"/>
    <p:sldId id="271" r:id="rId15"/>
    <p:sldId id="272" r:id="rId16"/>
    <p:sldId id="273" r:id="rId17"/>
    <p:sldId id="259" r:id="rId18"/>
  </p:sldIdLst>
  <p:sldSz cx="12192000" cy="6858000"/>
  <p:notesSz cx="6858000" cy="9144000"/>
  <p:embeddedFontLst>
    <p:embeddedFont>
      <p:font typeface="Lato Black" panose="020F0502020204030203" pitchFamily="34" charset="0"/>
      <p:bold r:id="rId20"/>
      <p:boldItalic r:id="rId21"/>
    </p:embeddedFont>
    <p:embeddedFont>
      <p:font typeface="Libre Baskerville" panose="02000000000000000000" pitchFamily="2"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p:scale>
          <a:sx n="75" d="100"/>
          <a:sy n="75" d="100"/>
        </p:scale>
        <p:origin x="965"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sonia-yenpure-a98494396"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soniayenpure34-lgtm/Sonia-Yenpure.git"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40640"/>
            <a:ext cx="12190815" cy="6694098"/>
          </a:xfrm>
          <a:prstGeom prst="rect">
            <a:avLst/>
          </a:prstGeom>
          <a:noFill/>
          <a:ln>
            <a:noFill/>
          </a:ln>
        </p:spPr>
      </p:pic>
      <p:sp>
        <p:nvSpPr>
          <p:cNvPr id="99" name="Google Shape;99;p1"/>
          <p:cNvSpPr txBox="1"/>
          <p:nvPr/>
        </p:nvSpPr>
        <p:spPr>
          <a:xfrm>
            <a:off x="2472904" y="3717986"/>
            <a:ext cx="7246189" cy="230828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1800" b="0" i="0" u="none" strike="noStrike" cap="none" dirty="0">
                <a:solidFill>
                  <a:schemeClr val="dk1"/>
                </a:solidFill>
                <a:latin typeface="Calibri"/>
                <a:ea typeface="Calibri"/>
                <a:cs typeface="Calibri"/>
                <a:sym typeface="Calibri"/>
              </a:rPr>
            </a:br>
            <a:r>
              <a:rPr lang="en-IN" sz="3600" b="1" dirty="0">
                <a:solidFill>
                  <a:schemeClr val="dk1"/>
                </a:solidFill>
                <a:latin typeface="Calibri"/>
                <a:ea typeface="Calibri"/>
                <a:cs typeface="Calibri"/>
                <a:sym typeface="Calibri"/>
              </a:rPr>
              <a:t>HOSPITAL DATABASE MANAGEMENT</a:t>
            </a:r>
          </a:p>
          <a:p>
            <a:pPr marL="342900" marR="0" lvl="0" indent="-342900" algn="ctr" rtl="0">
              <a:lnSpc>
                <a:spcPct val="100000"/>
              </a:lnSpc>
              <a:spcBef>
                <a:spcPts val="0"/>
              </a:spcBef>
              <a:spcAft>
                <a:spcPts val="0"/>
              </a:spcAft>
              <a:buClr>
                <a:srgbClr val="000000"/>
              </a:buClr>
              <a:buSzPts val="1800"/>
              <a:buFontTx/>
              <a:buChar char="-"/>
            </a:pPr>
            <a:r>
              <a:rPr lang="en-IN" sz="2400" b="1" dirty="0">
                <a:solidFill>
                  <a:schemeClr val="dk1"/>
                </a:solidFill>
                <a:latin typeface="Calibri"/>
                <a:ea typeface="Calibri"/>
                <a:cs typeface="Calibri"/>
                <a:sym typeface="Calibri"/>
              </a:rPr>
              <a:t>By SONIA YENPURE </a:t>
            </a:r>
          </a:p>
          <a:p>
            <a:pPr marL="342900" marR="0" lvl="0" indent="-342900" algn="ctr" rtl="0">
              <a:lnSpc>
                <a:spcPct val="100000"/>
              </a:lnSpc>
              <a:spcBef>
                <a:spcPts val="0"/>
              </a:spcBef>
              <a:spcAft>
                <a:spcPts val="0"/>
              </a:spcAft>
              <a:buClr>
                <a:srgbClr val="000000"/>
              </a:buClr>
              <a:buSzPts val="1800"/>
              <a:buFontTx/>
              <a:buChar char="-"/>
            </a:pPr>
            <a:endParaRPr lang="en-IN" sz="2400" b="1" dirty="0">
              <a:solidFill>
                <a:schemeClr val="dk1"/>
              </a:solidFill>
              <a:latin typeface="Calibri"/>
              <a:ea typeface="Calibri"/>
              <a:cs typeface="Calibri"/>
              <a:sym typeface="Calibri"/>
            </a:endParaRPr>
          </a:p>
          <a:p>
            <a:pPr marL="342900" marR="0" lvl="0" indent="-342900" algn="ctr" rtl="0">
              <a:lnSpc>
                <a:spcPct val="100000"/>
              </a:lnSpc>
              <a:spcBef>
                <a:spcPts val="0"/>
              </a:spcBef>
              <a:spcAft>
                <a:spcPts val="0"/>
              </a:spcAft>
              <a:buClr>
                <a:srgbClr val="000000"/>
              </a:buClr>
              <a:buSzPts val="1800"/>
              <a:buFontTx/>
              <a:buChar char="-"/>
            </a:pPr>
            <a:r>
              <a:rPr lang="en-IN" sz="2400" b="1" dirty="0">
                <a:solidFill>
                  <a:schemeClr val="dk1"/>
                </a:solidFill>
                <a:latin typeface="Calibri"/>
                <a:ea typeface="Calibri"/>
                <a:cs typeface="Calibri"/>
                <a:sym typeface="Calibri"/>
              </a:rPr>
              <a:t>Guided by Manisha Ma’am</a:t>
            </a:r>
          </a:p>
          <a:p>
            <a:pPr marL="0" marR="0" lvl="0" indent="0" algn="ctr"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a:hlinkClick r:id="rId3"/>
          </p:cNvPr>
          <p:cNvSpPr txBox="1"/>
          <p:nvPr/>
        </p:nvSpPr>
        <p:spPr>
          <a:xfrm>
            <a:off x="629264" y="1250011"/>
            <a:ext cx="9733935" cy="4524275"/>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400" b="1" i="0" u="sng" strike="noStrike" cap="none" dirty="0">
                <a:solidFill>
                  <a:schemeClr val="dk1"/>
                </a:solidFill>
                <a:latin typeface="Calibri"/>
                <a:ea typeface="Calibri"/>
                <a:cs typeface="Calibri"/>
                <a:sym typeface="Calibri"/>
              </a:rPr>
              <a:t>Background</a:t>
            </a:r>
            <a:r>
              <a:rPr lang="en-IN" sz="2400" b="1" dirty="0">
                <a:solidFill>
                  <a:schemeClr val="dk1"/>
                </a:solidFill>
                <a:latin typeface="Calibri"/>
                <a:ea typeface="Calibri"/>
                <a:cs typeface="Calibri"/>
                <a:sym typeface="Calibri"/>
              </a:rPr>
              <a:t> </a:t>
            </a:r>
            <a:r>
              <a:rPr lang="en-IN" sz="2400" dirty="0">
                <a:solidFill>
                  <a:schemeClr val="dk1"/>
                </a:solidFill>
                <a:latin typeface="Calibri"/>
                <a:ea typeface="Calibri"/>
                <a:cs typeface="Calibri"/>
                <a:sym typeface="Calibri"/>
              </a:rPr>
              <a:t>: BSC (Computer Science)</a:t>
            </a:r>
          </a:p>
          <a:p>
            <a:pPr marL="285750" marR="0" lvl="0" indent="-323850" algn="l" rtl="0">
              <a:lnSpc>
                <a:spcPct val="100000"/>
              </a:lnSpc>
              <a:spcBef>
                <a:spcPts val="0"/>
              </a:spcBef>
              <a:spcAft>
                <a:spcPts val="0"/>
              </a:spcAft>
              <a:buClr>
                <a:schemeClr val="dk1"/>
              </a:buClr>
              <a:buSzPts val="2400"/>
              <a:buFont typeface="Arial"/>
              <a:buChar char="•"/>
            </a:pPr>
            <a:endParaRPr lang="en-IN" sz="2400" b="1" dirty="0">
              <a:solidFill>
                <a:schemeClr val="dk1"/>
              </a:solidFill>
              <a:latin typeface="Calibri"/>
              <a:ea typeface="Calibri"/>
              <a:cs typeface="Calibri"/>
              <a:sym typeface="Calibri"/>
            </a:endParaRPr>
          </a:p>
          <a:p>
            <a:r>
              <a:rPr lang="en-IN" sz="2400" b="1" i="0" u="sng" strike="noStrike" cap="none" dirty="0">
                <a:solidFill>
                  <a:schemeClr val="dk1"/>
                </a:solidFill>
                <a:latin typeface="Calibri"/>
                <a:ea typeface="Calibri"/>
                <a:cs typeface="Calibri"/>
                <a:sym typeface="Calibri"/>
              </a:rPr>
              <a:t>Why you want to learn Data Science </a:t>
            </a:r>
            <a:r>
              <a:rPr lang="en-IN" sz="2400" b="1" i="0" u="none" strike="noStrike" cap="none" dirty="0">
                <a:solidFill>
                  <a:schemeClr val="dk1"/>
                </a:solidFill>
                <a:latin typeface="Calibri"/>
                <a:ea typeface="Calibri"/>
                <a:cs typeface="Calibri"/>
                <a:sym typeface="Calibri"/>
              </a:rPr>
              <a:t>: </a:t>
            </a:r>
            <a:r>
              <a:rPr lang="en-US" sz="2400" dirty="0"/>
              <a:t>I’m interested in data science because it combines problem-solving, technology, and real-world impact. I enjoy working with data to find patterns, explain what’s happening, and help make better decisions.</a:t>
            </a:r>
          </a:p>
          <a:p>
            <a:pPr marR="0" lvl="0" algn="l" rtl="0">
              <a:lnSpc>
                <a:spcPct val="100000"/>
              </a:lnSpc>
              <a:spcBef>
                <a:spcPts val="0"/>
              </a:spcBef>
              <a:spcAft>
                <a:spcPts val="0"/>
              </a:spcAft>
              <a:buClr>
                <a:schemeClr val="dk1"/>
              </a:buClr>
              <a:buSzPts val="2400"/>
            </a:pPr>
            <a:endParaRPr sz="2400" b="1" i="0" u="none" strike="noStrike" cap="none"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i="0" u="sng" strike="noStrike" cap="none" dirty="0">
                <a:solidFill>
                  <a:schemeClr val="dk1"/>
                </a:solidFill>
                <a:latin typeface="Calibri"/>
                <a:ea typeface="Calibri"/>
                <a:cs typeface="Calibri"/>
                <a:sym typeface="Calibri"/>
              </a:rPr>
              <a:t>Any work experience </a:t>
            </a:r>
            <a:r>
              <a:rPr lang="en-IN" sz="2400" b="1" i="0" u="none" strike="noStrike" cap="none" dirty="0">
                <a:solidFill>
                  <a:schemeClr val="dk1"/>
                </a:solidFill>
                <a:latin typeface="Calibri"/>
                <a:ea typeface="Calibri"/>
                <a:cs typeface="Calibri"/>
                <a:sym typeface="Calibri"/>
              </a:rPr>
              <a:t>: </a:t>
            </a:r>
            <a:r>
              <a:rPr lang="en-IN" sz="2400" i="0" u="none" strike="noStrike" cap="none" dirty="0">
                <a:solidFill>
                  <a:schemeClr val="dk1"/>
                </a:solidFill>
                <a:latin typeface="Calibri"/>
                <a:ea typeface="Calibri"/>
                <a:cs typeface="Calibri"/>
                <a:sym typeface="Calibri"/>
              </a:rPr>
              <a:t>Freshers</a:t>
            </a:r>
          </a:p>
          <a:p>
            <a:pPr marL="285750" marR="0" lvl="0" indent="-323850" algn="l" rtl="0">
              <a:lnSpc>
                <a:spcPct val="100000"/>
              </a:lnSpc>
              <a:spcBef>
                <a:spcPts val="0"/>
              </a:spcBef>
              <a:spcAft>
                <a:spcPts val="0"/>
              </a:spcAft>
              <a:buClr>
                <a:schemeClr val="dk1"/>
              </a:buClr>
              <a:buSzPts val="2400"/>
              <a:buFont typeface="Arial"/>
              <a:buChar char="•"/>
            </a:pPr>
            <a:endParaRPr sz="2400" b="1" i="0" u="none" strike="noStrike" cap="none" dirty="0">
              <a:solidFill>
                <a:schemeClr val="dk1"/>
              </a:solidFill>
              <a:latin typeface="Calibri"/>
              <a:ea typeface="Calibri"/>
              <a:cs typeface="Calibri"/>
              <a:sym typeface="Calibri"/>
            </a:endParaRPr>
          </a:p>
          <a:p>
            <a:pPr marL="285750" lvl="0" indent="-323850">
              <a:buClr>
                <a:schemeClr val="dk1"/>
              </a:buClr>
              <a:buSzPts val="2400"/>
              <a:buFont typeface="Calibri"/>
              <a:buChar char="•"/>
            </a:pPr>
            <a:r>
              <a:rPr lang="en-IN" sz="2400" b="1" i="0" u="sng" strike="noStrike" cap="none" dirty="0">
                <a:solidFill>
                  <a:schemeClr val="dk1"/>
                </a:solidFill>
                <a:latin typeface="Calibri"/>
                <a:ea typeface="Calibri"/>
                <a:cs typeface="Calibri"/>
                <a:sym typeface="Calibri"/>
              </a:rPr>
              <a:t>Share your </a:t>
            </a:r>
            <a:r>
              <a:rPr lang="en-IN" sz="2400" b="1" u="sng" dirty="0">
                <a:solidFill>
                  <a:schemeClr val="dk1"/>
                </a:solidFill>
                <a:latin typeface="Calibri"/>
                <a:ea typeface="Calibri"/>
                <a:cs typeface="Calibri"/>
                <a:sym typeface="Calibri"/>
              </a:rPr>
              <a:t>LinkedIn</a:t>
            </a:r>
            <a:r>
              <a:rPr lang="en-IN" sz="2400" b="1" i="0" u="sng" strike="noStrike" cap="none" dirty="0">
                <a:solidFill>
                  <a:schemeClr val="dk1"/>
                </a:solidFill>
                <a:latin typeface="Calibri"/>
                <a:ea typeface="Calibri"/>
                <a:cs typeface="Calibri"/>
                <a:sym typeface="Calibri"/>
              </a:rPr>
              <a:t> and </a:t>
            </a:r>
            <a:r>
              <a:rPr lang="en-IN" sz="2400" b="1" u="sng" dirty="0">
                <a:solidFill>
                  <a:schemeClr val="dk1"/>
                </a:solidFill>
                <a:latin typeface="Calibri"/>
                <a:ea typeface="Calibri"/>
                <a:cs typeface="Calibri"/>
                <a:sym typeface="Calibri"/>
              </a:rPr>
              <a:t>GitHub</a:t>
            </a:r>
            <a:r>
              <a:rPr lang="en-IN" sz="2400" b="1" i="0" u="sng" strike="noStrike" cap="none" dirty="0">
                <a:solidFill>
                  <a:schemeClr val="dk1"/>
                </a:solidFill>
                <a:latin typeface="Calibri"/>
                <a:ea typeface="Calibri"/>
                <a:cs typeface="Calibri"/>
                <a:sym typeface="Calibri"/>
              </a:rPr>
              <a:t> profile </a:t>
            </a:r>
            <a:r>
              <a:rPr lang="en-IN" sz="2400" b="1" u="sng" dirty="0">
                <a:solidFill>
                  <a:schemeClr val="dk1"/>
                </a:solidFill>
                <a:latin typeface="Calibri"/>
                <a:ea typeface="Calibri"/>
                <a:cs typeface="Calibri"/>
                <a:sym typeface="Calibri"/>
              </a:rPr>
              <a:t>URLs</a:t>
            </a:r>
            <a:r>
              <a:rPr lang="en-IN" sz="2400" b="1" dirty="0">
                <a:solidFill>
                  <a:schemeClr val="dk1"/>
                </a:solidFill>
                <a:latin typeface="Calibri"/>
                <a:ea typeface="Calibri"/>
                <a:cs typeface="Calibri"/>
                <a:sym typeface="Calibri"/>
              </a:rPr>
              <a:t> :  </a:t>
            </a:r>
            <a:r>
              <a:rPr lang="en-IN" sz="2400" b="1" dirty="0">
                <a:solidFill>
                  <a:schemeClr val="dk1"/>
                </a:solidFill>
                <a:latin typeface="Calibri"/>
                <a:ea typeface="Calibri"/>
                <a:cs typeface="Calibri"/>
                <a:sym typeface="Calibri"/>
                <a:hlinkClick r:id="rId3"/>
              </a:rPr>
              <a:t>http://www.linkedin.com/in/sonia-yenpure-a98494396</a:t>
            </a:r>
            <a:endParaRPr lang="en-IN" sz="2400" b="1" dirty="0">
              <a:solidFill>
                <a:schemeClr val="dk1"/>
              </a:solidFill>
              <a:latin typeface="Calibri"/>
              <a:ea typeface="Calibri"/>
              <a:cs typeface="Calibri"/>
              <a:sym typeface="Calibri"/>
            </a:endParaRPr>
          </a:p>
          <a:p>
            <a:pPr lvl="0">
              <a:buClr>
                <a:schemeClr val="dk1"/>
              </a:buClr>
              <a:buSzPts val="2400"/>
            </a:pPr>
            <a:r>
              <a:rPr lang="en-IN" sz="2400" dirty="0">
                <a:solidFill>
                  <a:schemeClr val="dk1"/>
                </a:solidFill>
                <a:latin typeface="Calibri"/>
                <a:ea typeface="Calibri"/>
                <a:cs typeface="Calibri"/>
                <a:sym typeface="Calibri"/>
                <a:hlinkClick r:id="rId4"/>
              </a:rPr>
              <a:t>    https://github.com/soniayenpure34-lgtm/Sonia-Yenpure.git</a:t>
            </a:r>
            <a:endParaRPr lang="en-IN" sz="2400"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a:t>
            </a:r>
            <a:endParaRPr lang="en-IN" sz="2400" dirty="0"/>
          </a:p>
          <a:p>
            <a:pPr marL="457200" lvl="0" indent="-431800" algn="l" rtl="0">
              <a:lnSpc>
                <a:spcPct val="90000"/>
              </a:lnSpc>
              <a:spcBef>
                <a:spcPts val="1000"/>
              </a:spcBef>
              <a:spcAft>
                <a:spcPts val="0"/>
              </a:spcAft>
              <a:buSzPts val="2400"/>
              <a:buChar char="•"/>
            </a:pPr>
            <a:r>
              <a:rPr lang="en-IN" sz="2400" b="1" dirty="0"/>
              <a:t>Experience/Challenges working on SQL – Data Analysis Project.</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B09B-3E20-FD09-94B7-C08393EAFDBA}"/>
              </a:ext>
            </a:extLst>
          </p:cNvPr>
          <p:cNvSpPr>
            <a:spLocks noGrp="1"/>
          </p:cNvSpPr>
          <p:nvPr>
            <p:ph type="title"/>
          </p:nvPr>
        </p:nvSpPr>
        <p:spPr/>
        <p:txBody>
          <a:bodyPr>
            <a:normAutofit/>
          </a:bodyPr>
          <a:lstStyle/>
          <a:p>
            <a:r>
              <a:rPr lang="en-US" sz="3600" dirty="0">
                <a:solidFill>
                  <a:srgbClr val="FF0000"/>
                </a:solidFill>
              </a:rPr>
              <a:t>Project Storyline </a:t>
            </a:r>
          </a:p>
        </p:txBody>
      </p:sp>
      <p:sp>
        <p:nvSpPr>
          <p:cNvPr id="3" name="Text Placeholder 2">
            <a:extLst>
              <a:ext uri="{FF2B5EF4-FFF2-40B4-BE49-F238E27FC236}">
                <a16:creationId xmlns:a16="http://schemas.microsoft.com/office/drawing/2014/main" id="{C59C97CE-3302-A85E-4D83-20B36A4A4D06}"/>
              </a:ext>
            </a:extLst>
          </p:cNvPr>
          <p:cNvSpPr>
            <a:spLocks noGrp="1"/>
          </p:cNvSpPr>
          <p:nvPr>
            <p:ph type="body" idx="1"/>
          </p:nvPr>
        </p:nvSpPr>
        <p:spPr/>
        <p:txBody>
          <a:bodyPr>
            <a:normAutofit/>
          </a:bodyPr>
          <a:lstStyle/>
          <a:p>
            <a:pPr>
              <a:buFont typeface="Arial" panose="020B0604020202020204" pitchFamily="34" charset="0"/>
              <a:buChar char="•"/>
            </a:pPr>
            <a:r>
              <a:rPr lang="en-US" sz="2400" dirty="0"/>
              <a:t>Hospitals generate a huge amount of structured data every day, and even a small design mistake can lead to serious issues like incorrect treatment history or room allocation. I chose this project to understand how databases ensure data integrity in such critical systems.</a:t>
            </a:r>
          </a:p>
          <a:p>
            <a:pPr marL="114300" indent="0">
              <a:buNone/>
            </a:pPr>
            <a:endParaRPr lang="en-US" sz="2400" dirty="0"/>
          </a:p>
          <a:p>
            <a:pPr>
              <a:buFont typeface="Arial" panose="020B0604020202020204" pitchFamily="34" charset="0"/>
              <a:buChar char="•"/>
            </a:pPr>
            <a:r>
              <a:rPr lang="en-US" sz="2400" dirty="0"/>
              <a:t>Designing this database helped me think from a real operational perspective—how patients move through appointments, stays, treatments, and prescriptions—and how SQL supports these workflows efficiently.</a:t>
            </a:r>
          </a:p>
        </p:txBody>
      </p:sp>
    </p:spTree>
    <p:extLst>
      <p:ext uri="{BB962C8B-B14F-4D97-AF65-F5344CB8AC3E}">
        <p14:creationId xmlns:p14="http://schemas.microsoft.com/office/powerpoint/2010/main" val="2926436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C4988-C0F3-EE4C-8944-63196F8D960E}"/>
              </a:ext>
            </a:extLst>
          </p:cNvPr>
          <p:cNvSpPr>
            <a:spLocks noGrp="1"/>
          </p:cNvSpPr>
          <p:nvPr>
            <p:ph type="title"/>
          </p:nvPr>
        </p:nvSpPr>
        <p:spPr/>
        <p:txBody>
          <a:bodyPr>
            <a:normAutofit/>
          </a:bodyPr>
          <a:lstStyle/>
          <a:p>
            <a:r>
              <a:rPr lang="en-US" sz="3600" dirty="0">
                <a:solidFill>
                  <a:srgbClr val="FF0000"/>
                </a:solidFill>
              </a:rPr>
              <a:t>Problem Statement </a:t>
            </a:r>
          </a:p>
        </p:txBody>
      </p:sp>
      <p:sp>
        <p:nvSpPr>
          <p:cNvPr id="3" name="Text Placeholder 2">
            <a:extLst>
              <a:ext uri="{FF2B5EF4-FFF2-40B4-BE49-F238E27FC236}">
                <a16:creationId xmlns:a16="http://schemas.microsoft.com/office/drawing/2014/main" id="{AE429EF1-A48C-01C4-511D-A86C4BC40545}"/>
              </a:ext>
            </a:extLst>
          </p:cNvPr>
          <p:cNvSpPr>
            <a:spLocks noGrp="1"/>
          </p:cNvSpPr>
          <p:nvPr>
            <p:ph type="body" idx="1"/>
          </p:nvPr>
        </p:nvSpPr>
        <p:spPr/>
        <p:txBody>
          <a:bodyPr>
            <a:noAutofit/>
          </a:bodyPr>
          <a:lstStyle/>
          <a:p>
            <a:pPr>
              <a:buFont typeface="Arial" panose="020B0604020202020204" pitchFamily="34" charset="0"/>
              <a:buChar char="•"/>
            </a:pPr>
            <a:r>
              <a:rPr lang="en-US" sz="2400" dirty="0"/>
              <a:t>Hospitals face challenges in managing patient records, staff scheduling, room availability, and treatment data and when information is stored manually or across multiple systems. This results in inefficiency, lack of transparency, and poor decision-making.</a:t>
            </a:r>
          </a:p>
          <a:p>
            <a:endParaRPr lang="en-US" sz="2400" dirty="0"/>
          </a:p>
          <a:p>
            <a:pPr>
              <a:buFont typeface="Arial" panose="020B0604020202020204" pitchFamily="34" charset="0"/>
              <a:buChar char="•"/>
            </a:pPr>
            <a:r>
              <a:rPr lang="en-US" sz="2400" dirty="0"/>
              <a:t>Project Objectives : To design a normalized relational database for hospital operations. To efficiently store and manage patient, doctor, nurse, room, and treatment data. To reduce manual record-keeping and improve accuracy and efficiency in hospital management . Hospitals provide essential medical services, but managing daily activities manually is difficult and error-prone. A database system is required to maintain accurate records and support smooth hospital operations.</a:t>
            </a:r>
          </a:p>
        </p:txBody>
      </p:sp>
    </p:spTree>
    <p:extLst>
      <p:ext uri="{BB962C8B-B14F-4D97-AF65-F5344CB8AC3E}">
        <p14:creationId xmlns:p14="http://schemas.microsoft.com/office/powerpoint/2010/main" val="2129692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1E6B9-AD28-C578-53C1-2F9F2E6538E7}"/>
              </a:ext>
            </a:extLst>
          </p:cNvPr>
          <p:cNvSpPr>
            <a:spLocks noGrp="1"/>
          </p:cNvSpPr>
          <p:nvPr>
            <p:ph type="title"/>
          </p:nvPr>
        </p:nvSpPr>
        <p:spPr>
          <a:xfrm>
            <a:off x="838200" y="365125"/>
            <a:ext cx="10515600" cy="922901"/>
          </a:xfrm>
        </p:spPr>
        <p:txBody>
          <a:bodyPr>
            <a:normAutofit/>
          </a:bodyPr>
          <a:lstStyle/>
          <a:p>
            <a:r>
              <a:rPr lang="en-US" sz="3600" dirty="0">
                <a:solidFill>
                  <a:srgbClr val="FF0000"/>
                </a:solidFill>
              </a:rPr>
              <a:t>Why Relational Database Is Needed ? </a:t>
            </a:r>
          </a:p>
        </p:txBody>
      </p:sp>
      <p:sp>
        <p:nvSpPr>
          <p:cNvPr id="3" name="Text Placeholder 2">
            <a:extLst>
              <a:ext uri="{FF2B5EF4-FFF2-40B4-BE49-F238E27FC236}">
                <a16:creationId xmlns:a16="http://schemas.microsoft.com/office/drawing/2014/main" id="{3B4ED771-2B55-0B6F-F261-2466A3B9ED11}"/>
              </a:ext>
            </a:extLst>
          </p:cNvPr>
          <p:cNvSpPr>
            <a:spLocks noGrp="1"/>
          </p:cNvSpPr>
          <p:nvPr>
            <p:ph type="body" idx="1"/>
          </p:nvPr>
        </p:nvSpPr>
        <p:spPr>
          <a:xfrm>
            <a:off x="838200" y="1130710"/>
            <a:ext cx="10515600" cy="5122606"/>
          </a:xfrm>
        </p:spPr>
        <p:txBody>
          <a:bodyPr numCol="1">
            <a:noAutofit/>
          </a:bodyPr>
          <a:lstStyle/>
          <a:p>
            <a:r>
              <a:rPr lang="en-US" sz="1400" b="1" dirty="0"/>
              <a:t>Hospital systems involve multiple interconnected entities, such as:</a:t>
            </a:r>
          </a:p>
          <a:p>
            <a:pPr marL="628650" indent="-514350">
              <a:buFont typeface="+mj-lt"/>
              <a:buAutoNum type="arabicPeriod"/>
            </a:pPr>
            <a:r>
              <a:rPr lang="en-US" sz="1400" dirty="0"/>
              <a:t>Patients</a:t>
            </a:r>
          </a:p>
          <a:p>
            <a:pPr marL="628650" indent="-514350">
              <a:buFont typeface="+mj-lt"/>
              <a:buAutoNum type="arabicPeriod"/>
            </a:pPr>
            <a:r>
              <a:rPr lang="en-US" sz="1400" dirty="0"/>
              <a:t>Physicians</a:t>
            </a:r>
          </a:p>
          <a:p>
            <a:pPr marL="628650" indent="-514350">
              <a:buFont typeface="+mj-lt"/>
              <a:buAutoNum type="arabicPeriod"/>
            </a:pPr>
            <a:r>
              <a:rPr lang="en-US" sz="1400" dirty="0"/>
              <a:t>Nurses</a:t>
            </a:r>
          </a:p>
          <a:p>
            <a:pPr marL="628650" indent="-514350">
              <a:buFont typeface="+mj-lt"/>
              <a:buAutoNum type="arabicPeriod"/>
            </a:pPr>
            <a:r>
              <a:rPr lang="en-US" sz="1400" dirty="0"/>
              <a:t>Departments</a:t>
            </a:r>
          </a:p>
          <a:p>
            <a:pPr marL="628650" indent="-514350">
              <a:buFont typeface="+mj-lt"/>
              <a:buAutoNum type="arabicPeriod"/>
            </a:pPr>
            <a:r>
              <a:rPr lang="en-US" sz="1400" dirty="0"/>
              <a:t>Appointments</a:t>
            </a:r>
          </a:p>
          <a:p>
            <a:pPr marL="628650" indent="-514350">
              <a:buFont typeface="+mj-lt"/>
              <a:buAutoNum type="arabicPeriod"/>
            </a:pPr>
            <a:r>
              <a:rPr lang="en-US" sz="1400" dirty="0"/>
              <a:t>Procedures</a:t>
            </a:r>
          </a:p>
          <a:p>
            <a:pPr marL="628650" indent="-514350">
              <a:buFont typeface="+mj-lt"/>
              <a:buAutoNum type="arabicPeriod"/>
            </a:pPr>
            <a:r>
              <a:rPr lang="en-US" sz="1400" dirty="0"/>
              <a:t>Medications</a:t>
            </a:r>
          </a:p>
          <a:p>
            <a:pPr marL="628650" indent="-514350">
              <a:buFont typeface="+mj-lt"/>
              <a:buAutoNum type="arabicPeriod"/>
            </a:pPr>
            <a:r>
              <a:rPr lang="en-US" sz="1400" dirty="0"/>
              <a:t>Rooms and stays</a:t>
            </a:r>
          </a:p>
          <a:p>
            <a:r>
              <a:rPr lang="en-US" sz="1400" b="1" dirty="0"/>
              <a:t>These entities have one-to-many and many-to-many relationships:</a:t>
            </a:r>
          </a:p>
          <a:p>
            <a:pPr marL="514350" indent="-400050">
              <a:buFont typeface="+mj-lt"/>
              <a:buAutoNum type="romanLcPeriod"/>
            </a:pPr>
            <a:r>
              <a:rPr lang="en-US" sz="1400" dirty="0"/>
              <a:t>One patient can consult many physicians</a:t>
            </a:r>
          </a:p>
          <a:p>
            <a:pPr marL="514350" indent="-400050">
              <a:buFont typeface="+mj-lt"/>
              <a:buAutoNum type="romanLcPeriod"/>
            </a:pPr>
            <a:r>
              <a:rPr lang="en-US" sz="1400" dirty="0"/>
              <a:t>One physician can belong to multiple departments</a:t>
            </a:r>
          </a:p>
          <a:p>
            <a:pPr marL="514350" indent="-400050">
              <a:buFont typeface="+mj-lt"/>
              <a:buAutoNum type="romanLcPeriod"/>
            </a:pPr>
            <a:r>
              <a:rPr lang="en-US" sz="1400" dirty="0"/>
              <a:t>One physician can be trained for many procedures</a:t>
            </a:r>
          </a:p>
          <a:p>
            <a:pPr marL="514350" indent="-400050">
              <a:buFont typeface="+mj-lt"/>
              <a:buAutoNum type="romanLcPeriod"/>
            </a:pPr>
            <a:r>
              <a:rPr lang="en-US" sz="1400" dirty="0"/>
              <a:t>One patient can undergo multiple procedures during a stay</a:t>
            </a:r>
          </a:p>
          <a:p>
            <a:pPr marL="514350" indent="-400050">
              <a:buFont typeface="+mj-lt"/>
              <a:buAutoNum type="romanLcPeriod"/>
            </a:pPr>
            <a:r>
              <a:rPr lang="en-US" sz="1400" dirty="0"/>
              <a:t>A relational database handles these relationships efficiently using primary keys and foreign keys.</a:t>
            </a:r>
          </a:p>
        </p:txBody>
      </p:sp>
    </p:spTree>
    <p:extLst>
      <p:ext uri="{BB962C8B-B14F-4D97-AF65-F5344CB8AC3E}">
        <p14:creationId xmlns:p14="http://schemas.microsoft.com/office/powerpoint/2010/main" val="1002401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E9BD-C9F1-E8C5-BD43-42384D74A78E}"/>
              </a:ext>
            </a:extLst>
          </p:cNvPr>
          <p:cNvSpPr>
            <a:spLocks noGrp="1"/>
          </p:cNvSpPr>
          <p:nvPr>
            <p:ph type="title"/>
          </p:nvPr>
        </p:nvSpPr>
        <p:spPr/>
        <p:txBody>
          <a:bodyPr>
            <a:normAutofit/>
          </a:bodyPr>
          <a:lstStyle/>
          <a:p>
            <a:r>
              <a:rPr lang="en-US" sz="3600" dirty="0">
                <a:solidFill>
                  <a:srgbClr val="FF0000"/>
                </a:solidFill>
              </a:rPr>
              <a:t>ER Diagram and Schema </a:t>
            </a:r>
            <a:r>
              <a:rPr lang="en-US" sz="3200" dirty="0">
                <a:solidFill>
                  <a:srgbClr val="FF0000"/>
                </a:solidFill>
              </a:rPr>
              <a:t>Explanation</a:t>
            </a:r>
            <a:endParaRPr lang="en-US" sz="3600" dirty="0">
              <a:solidFill>
                <a:srgbClr val="FF0000"/>
              </a:solidFill>
            </a:endParaRPr>
          </a:p>
        </p:txBody>
      </p:sp>
      <p:sp>
        <p:nvSpPr>
          <p:cNvPr id="3" name="Text Placeholder 2">
            <a:extLst>
              <a:ext uri="{FF2B5EF4-FFF2-40B4-BE49-F238E27FC236}">
                <a16:creationId xmlns:a16="http://schemas.microsoft.com/office/drawing/2014/main" id="{F3F04E94-A088-E288-08DB-3DBBA11879C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F8D341DB-4AEC-E90E-A9F8-91E58C981027}"/>
              </a:ext>
            </a:extLst>
          </p:cNvPr>
          <p:cNvPicPr>
            <a:picLocks noChangeAspect="1"/>
          </p:cNvPicPr>
          <p:nvPr/>
        </p:nvPicPr>
        <p:blipFill>
          <a:blip r:embed="rId2"/>
          <a:srcRect l="13583" t="11408" r="19583" b="9930"/>
          <a:stretch>
            <a:fillRect/>
          </a:stretch>
        </p:blipFill>
        <p:spPr>
          <a:xfrm>
            <a:off x="838200" y="1825624"/>
            <a:ext cx="10515600" cy="4351339"/>
          </a:xfrm>
          <a:prstGeom prst="rect">
            <a:avLst/>
          </a:prstGeom>
        </p:spPr>
      </p:pic>
    </p:spTree>
    <p:extLst>
      <p:ext uri="{BB962C8B-B14F-4D97-AF65-F5344CB8AC3E}">
        <p14:creationId xmlns:p14="http://schemas.microsoft.com/office/powerpoint/2010/main" val="2453882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10216-EC66-F87A-CB9C-CAAE74240E5B}"/>
              </a:ext>
            </a:extLst>
          </p:cNvPr>
          <p:cNvSpPr>
            <a:spLocks noGrp="1"/>
          </p:cNvSpPr>
          <p:nvPr>
            <p:ph type="title"/>
          </p:nvPr>
        </p:nvSpPr>
        <p:spPr/>
        <p:txBody>
          <a:bodyPr>
            <a:normAutofit fontScale="90000"/>
          </a:bodyPr>
          <a:lstStyle/>
          <a:p>
            <a:r>
              <a:rPr lang="en-US" sz="3600" dirty="0">
                <a:solidFill>
                  <a:srgbClr val="FF0000"/>
                </a:solidFill>
              </a:rPr>
              <a:t>SQL Queries with Summaries</a:t>
            </a:r>
            <a:br>
              <a:rPr lang="en-US" sz="3600" dirty="0">
                <a:solidFill>
                  <a:srgbClr val="FF0000"/>
                </a:solidFill>
              </a:rPr>
            </a:br>
            <a:br>
              <a:rPr lang="en-US" sz="3600" dirty="0">
                <a:solidFill>
                  <a:srgbClr val="FF0000"/>
                </a:solidFill>
              </a:rPr>
            </a:br>
            <a:r>
              <a:rPr lang="en-US" sz="2000" dirty="0">
                <a:solidFill>
                  <a:schemeClr val="tx1"/>
                </a:solidFill>
              </a:rPr>
              <a:t>Q. Write a query in SQL to obtain the name of the physicians with department who are yet to be affiliated</a:t>
            </a:r>
          </a:p>
        </p:txBody>
      </p:sp>
      <p:pic>
        <p:nvPicPr>
          <p:cNvPr id="6" name="Picture 5">
            <a:extLst>
              <a:ext uri="{FF2B5EF4-FFF2-40B4-BE49-F238E27FC236}">
                <a16:creationId xmlns:a16="http://schemas.microsoft.com/office/drawing/2014/main" id="{99924AC6-82E3-E28B-E323-BB11A7C87570}"/>
              </a:ext>
            </a:extLst>
          </p:cNvPr>
          <p:cNvPicPr>
            <a:picLocks noChangeAspect="1"/>
          </p:cNvPicPr>
          <p:nvPr/>
        </p:nvPicPr>
        <p:blipFill>
          <a:blip r:embed="rId2"/>
          <a:stretch>
            <a:fillRect/>
          </a:stretch>
        </p:blipFill>
        <p:spPr>
          <a:xfrm>
            <a:off x="1573162" y="2057400"/>
            <a:ext cx="2827745" cy="2743200"/>
          </a:xfrm>
          <a:prstGeom prst="rect">
            <a:avLst/>
          </a:prstGeom>
        </p:spPr>
      </p:pic>
      <p:pic>
        <p:nvPicPr>
          <p:cNvPr id="8" name="Picture 7">
            <a:extLst>
              <a:ext uri="{FF2B5EF4-FFF2-40B4-BE49-F238E27FC236}">
                <a16:creationId xmlns:a16="http://schemas.microsoft.com/office/drawing/2014/main" id="{3F06B2C6-B6B4-94BA-D4E7-A49674F95EE0}"/>
              </a:ext>
            </a:extLst>
          </p:cNvPr>
          <p:cNvPicPr>
            <a:picLocks noChangeAspect="1"/>
          </p:cNvPicPr>
          <p:nvPr/>
        </p:nvPicPr>
        <p:blipFill>
          <a:blip r:embed="rId3"/>
          <a:stretch>
            <a:fillRect/>
          </a:stretch>
        </p:blipFill>
        <p:spPr>
          <a:xfrm>
            <a:off x="1573162" y="5167312"/>
            <a:ext cx="2230909" cy="1059363"/>
          </a:xfrm>
          <a:prstGeom prst="rect">
            <a:avLst/>
          </a:prstGeom>
        </p:spPr>
      </p:pic>
      <p:sp>
        <p:nvSpPr>
          <p:cNvPr id="11" name="Rectangle: Rounded Corners 10">
            <a:extLst>
              <a:ext uri="{FF2B5EF4-FFF2-40B4-BE49-F238E27FC236}">
                <a16:creationId xmlns:a16="http://schemas.microsoft.com/office/drawing/2014/main" id="{ACCAED11-3159-2A3C-3B3F-7EE2DBC88EC7}"/>
              </a:ext>
            </a:extLst>
          </p:cNvPr>
          <p:cNvSpPr/>
          <p:nvPr/>
        </p:nvSpPr>
        <p:spPr>
          <a:xfrm>
            <a:off x="6931742" y="2725994"/>
            <a:ext cx="2593258" cy="1848464"/>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This query displays the names of physicians who are not affiliated yet to</a:t>
            </a:r>
          </a:p>
          <a:p>
            <a:pPr algn="ctr"/>
            <a:r>
              <a:rPr lang="en-US" sz="2000" dirty="0">
                <a:solidFill>
                  <a:schemeClr val="tx1"/>
                </a:solidFill>
                <a:latin typeface="Arial" panose="020B0604020202020204" pitchFamily="34" charset="0"/>
                <a:cs typeface="Arial" panose="020B0604020202020204" pitchFamily="34" charset="0"/>
              </a:rPr>
              <a:t>any Department </a:t>
            </a:r>
          </a:p>
        </p:txBody>
      </p:sp>
    </p:spTree>
    <p:extLst>
      <p:ext uri="{BB962C8B-B14F-4D97-AF65-F5344CB8AC3E}">
        <p14:creationId xmlns:p14="http://schemas.microsoft.com/office/powerpoint/2010/main" val="1495872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93E5F-BA6F-5944-CE21-0768E677E3A4}"/>
              </a:ext>
            </a:extLst>
          </p:cNvPr>
          <p:cNvSpPr>
            <a:spLocks noGrp="1"/>
          </p:cNvSpPr>
          <p:nvPr>
            <p:ph type="title"/>
          </p:nvPr>
        </p:nvSpPr>
        <p:spPr>
          <a:xfrm>
            <a:off x="838200" y="365125"/>
            <a:ext cx="10515600" cy="1134487"/>
          </a:xfrm>
        </p:spPr>
        <p:txBody>
          <a:bodyPr>
            <a:normAutofit fontScale="90000"/>
          </a:bodyPr>
          <a:lstStyle/>
          <a:p>
            <a:r>
              <a:rPr lang="en-US" sz="2200" dirty="0"/>
              <a:t>Q. Write a query in SQL to obtain the name of the patients with their physicians by whom they got their preliminary treatment</a:t>
            </a:r>
            <a:br>
              <a:rPr lang="en-US" sz="2200" dirty="0"/>
            </a:br>
            <a:endParaRPr lang="en-US" dirty="0"/>
          </a:p>
        </p:txBody>
      </p:sp>
      <p:pic>
        <p:nvPicPr>
          <p:cNvPr id="4" name="Picture 3">
            <a:extLst>
              <a:ext uri="{FF2B5EF4-FFF2-40B4-BE49-F238E27FC236}">
                <a16:creationId xmlns:a16="http://schemas.microsoft.com/office/drawing/2014/main" id="{1FB10C6C-5083-78B4-C9A9-CF90612539C9}"/>
              </a:ext>
            </a:extLst>
          </p:cNvPr>
          <p:cNvPicPr>
            <a:picLocks noChangeAspect="1"/>
          </p:cNvPicPr>
          <p:nvPr/>
        </p:nvPicPr>
        <p:blipFill>
          <a:blip r:embed="rId2"/>
          <a:stretch>
            <a:fillRect/>
          </a:stretch>
        </p:blipFill>
        <p:spPr>
          <a:xfrm>
            <a:off x="1661652" y="1499612"/>
            <a:ext cx="2438400" cy="2423459"/>
          </a:xfrm>
          <a:prstGeom prst="rect">
            <a:avLst/>
          </a:prstGeom>
        </p:spPr>
      </p:pic>
      <p:pic>
        <p:nvPicPr>
          <p:cNvPr id="6" name="Picture 5">
            <a:extLst>
              <a:ext uri="{FF2B5EF4-FFF2-40B4-BE49-F238E27FC236}">
                <a16:creationId xmlns:a16="http://schemas.microsoft.com/office/drawing/2014/main" id="{1EC8EA12-201C-195E-22C2-53A7AA910C2E}"/>
              </a:ext>
            </a:extLst>
          </p:cNvPr>
          <p:cNvPicPr>
            <a:picLocks noChangeAspect="1"/>
          </p:cNvPicPr>
          <p:nvPr/>
        </p:nvPicPr>
        <p:blipFill>
          <a:blip r:embed="rId3"/>
          <a:stretch>
            <a:fillRect/>
          </a:stretch>
        </p:blipFill>
        <p:spPr>
          <a:xfrm>
            <a:off x="1661652" y="4463845"/>
            <a:ext cx="3067664" cy="1630602"/>
          </a:xfrm>
          <a:prstGeom prst="rect">
            <a:avLst/>
          </a:prstGeom>
        </p:spPr>
      </p:pic>
      <p:sp>
        <p:nvSpPr>
          <p:cNvPr id="7" name="Rectangle: Rounded Corners 6">
            <a:extLst>
              <a:ext uri="{FF2B5EF4-FFF2-40B4-BE49-F238E27FC236}">
                <a16:creationId xmlns:a16="http://schemas.microsoft.com/office/drawing/2014/main" id="{5AE2A07D-E058-0C34-2FAF-67C67AD325E3}"/>
              </a:ext>
            </a:extLst>
          </p:cNvPr>
          <p:cNvSpPr/>
          <p:nvPr/>
        </p:nvSpPr>
        <p:spPr>
          <a:xfrm>
            <a:off x="6971071" y="2723536"/>
            <a:ext cx="3146324" cy="2098993"/>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This query shows each patient along with the physician who provided them initial treatment.</a:t>
            </a:r>
          </a:p>
        </p:txBody>
      </p:sp>
    </p:spTree>
    <p:extLst>
      <p:ext uri="{BB962C8B-B14F-4D97-AF65-F5344CB8AC3E}">
        <p14:creationId xmlns:p14="http://schemas.microsoft.com/office/powerpoint/2010/main" val="3323419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9E270-E6A1-C586-66B3-B6139658D4BB}"/>
              </a:ext>
            </a:extLst>
          </p:cNvPr>
          <p:cNvSpPr>
            <a:spLocks noGrp="1"/>
          </p:cNvSpPr>
          <p:nvPr>
            <p:ph type="title"/>
          </p:nvPr>
        </p:nvSpPr>
        <p:spPr/>
        <p:txBody>
          <a:bodyPr>
            <a:normAutofit/>
          </a:bodyPr>
          <a:lstStyle/>
          <a:p>
            <a:r>
              <a:rPr lang="en-US" sz="2000" dirty="0"/>
              <a:t>Q. Write a query in SQL to find the name of the patients and the number of physicians they have taken appointment.</a:t>
            </a:r>
          </a:p>
        </p:txBody>
      </p:sp>
      <p:pic>
        <p:nvPicPr>
          <p:cNvPr id="4" name="Picture 3">
            <a:extLst>
              <a:ext uri="{FF2B5EF4-FFF2-40B4-BE49-F238E27FC236}">
                <a16:creationId xmlns:a16="http://schemas.microsoft.com/office/drawing/2014/main" id="{725250D6-672D-CCBE-CBE9-C013199DAE05}"/>
              </a:ext>
            </a:extLst>
          </p:cNvPr>
          <p:cNvPicPr>
            <a:picLocks noChangeAspect="1"/>
          </p:cNvPicPr>
          <p:nvPr/>
        </p:nvPicPr>
        <p:blipFill>
          <a:blip r:embed="rId2"/>
          <a:stretch>
            <a:fillRect/>
          </a:stretch>
        </p:blipFill>
        <p:spPr>
          <a:xfrm>
            <a:off x="1857765" y="1661652"/>
            <a:ext cx="3756986" cy="2438400"/>
          </a:xfrm>
          <a:prstGeom prst="rect">
            <a:avLst/>
          </a:prstGeom>
        </p:spPr>
      </p:pic>
      <p:pic>
        <p:nvPicPr>
          <p:cNvPr id="6" name="Picture 5">
            <a:extLst>
              <a:ext uri="{FF2B5EF4-FFF2-40B4-BE49-F238E27FC236}">
                <a16:creationId xmlns:a16="http://schemas.microsoft.com/office/drawing/2014/main" id="{9F8F61F1-EBD9-0E97-9059-BC317004C259}"/>
              </a:ext>
            </a:extLst>
          </p:cNvPr>
          <p:cNvPicPr>
            <a:picLocks noChangeAspect="1"/>
          </p:cNvPicPr>
          <p:nvPr/>
        </p:nvPicPr>
        <p:blipFill>
          <a:blip r:embed="rId3"/>
          <a:stretch>
            <a:fillRect/>
          </a:stretch>
        </p:blipFill>
        <p:spPr>
          <a:xfrm>
            <a:off x="1979610" y="4783450"/>
            <a:ext cx="3437963" cy="1627181"/>
          </a:xfrm>
          <a:prstGeom prst="rect">
            <a:avLst/>
          </a:prstGeom>
        </p:spPr>
      </p:pic>
      <p:sp>
        <p:nvSpPr>
          <p:cNvPr id="7" name="Rectangle: Rounded Corners 6">
            <a:extLst>
              <a:ext uri="{FF2B5EF4-FFF2-40B4-BE49-F238E27FC236}">
                <a16:creationId xmlns:a16="http://schemas.microsoft.com/office/drawing/2014/main" id="{87FAAEF2-F92B-5787-4ABC-647EAF60AC97}"/>
              </a:ext>
            </a:extLst>
          </p:cNvPr>
          <p:cNvSpPr/>
          <p:nvPr/>
        </p:nvSpPr>
        <p:spPr>
          <a:xfrm>
            <a:off x="7740976" y="2654711"/>
            <a:ext cx="2593259" cy="2438400"/>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This query shows each patient and how many different physicians they have taken appointment with.</a:t>
            </a:r>
          </a:p>
        </p:txBody>
      </p:sp>
    </p:spTree>
    <p:extLst>
      <p:ext uri="{BB962C8B-B14F-4D97-AF65-F5344CB8AC3E}">
        <p14:creationId xmlns:p14="http://schemas.microsoft.com/office/powerpoint/2010/main" val="2694924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A7F3-339B-1580-E032-EB6FD7C824FA}"/>
              </a:ext>
            </a:extLst>
          </p:cNvPr>
          <p:cNvSpPr>
            <a:spLocks noGrp="1"/>
          </p:cNvSpPr>
          <p:nvPr>
            <p:ph type="title"/>
          </p:nvPr>
        </p:nvSpPr>
        <p:spPr>
          <a:xfrm>
            <a:off x="1074174" y="502777"/>
            <a:ext cx="10515600" cy="1325563"/>
          </a:xfrm>
        </p:spPr>
        <p:txBody>
          <a:bodyPr>
            <a:normAutofit/>
          </a:bodyPr>
          <a:lstStyle/>
          <a:p>
            <a:r>
              <a:rPr lang="en-US" dirty="0"/>
              <a:t> </a:t>
            </a:r>
            <a:r>
              <a:rPr lang="en-US" sz="2000" dirty="0"/>
              <a:t>Q. Write a query in SQL to find the name of the nurses and the room scheduled, where they will assist the physicians</a:t>
            </a:r>
          </a:p>
        </p:txBody>
      </p:sp>
      <p:pic>
        <p:nvPicPr>
          <p:cNvPr id="4" name="Picture 3">
            <a:extLst>
              <a:ext uri="{FF2B5EF4-FFF2-40B4-BE49-F238E27FC236}">
                <a16:creationId xmlns:a16="http://schemas.microsoft.com/office/drawing/2014/main" id="{BB530A12-976D-5D7E-8885-7BDEF6B0F06A}"/>
              </a:ext>
            </a:extLst>
          </p:cNvPr>
          <p:cNvPicPr>
            <a:picLocks noChangeAspect="1"/>
          </p:cNvPicPr>
          <p:nvPr/>
        </p:nvPicPr>
        <p:blipFill>
          <a:blip r:embed="rId2"/>
          <a:stretch>
            <a:fillRect/>
          </a:stretch>
        </p:blipFill>
        <p:spPr>
          <a:xfrm>
            <a:off x="2067536" y="1995201"/>
            <a:ext cx="2886478" cy="1993291"/>
          </a:xfrm>
          <a:prstGeom prst="rect">
            <a:avLst/>
          </a:prstGeom>
        </p:spPr>
      </p:pic>
      <p:pic>
        <p:nvPicPr>
          <p:cNvPr id="6" name="Picture 5">
            <a:extLst>
              <a:ext uri="{FF2B5EF4-FFF2-40B4-BE49-F238E27FC236}">
                <a16:creationId xmlns:a16="http://schemas.microsoft.com/office/drawing/2014/main" id="{1C98F81C-E60F-1F61-9277-BC7EC83DC5BA}"/>
              </a:ext>
            </a:extLst>
          </p:cNvPr>
          <p:cNvPicPr>
            <a:picLocks noChangeAspect="1"/>
          </p:cNvPicPr>
          <p:nvPr/>
        </p:nvPicPr>
        <p:blipFill>
          <a:blip r:embed="rId3"/>
          <a:stretch>
            <a:fillRect/>
          </a:stretch>
        </p:blipFill>
        <p:spPr>
          <a:xfrm>
            <a:off x="2136058" y="4562168"/>
            <a:ext cx="2749434" cy="2094271"/>
          </a:xfrm>
          <a:prstGeom prst="rect">
            <a:avLst/>
          </a:prstGeom>
        </p:spPr>
      </p:pic>
      <p:sp>
        <p:nvSpPr>
          <p:cNvPr id="7" name="Rectangle: Rounded Corners 6">
            <a:extLst>
              <a:ext uri="{FF2B5EF4-FFF2-40B4-BE49-F238E27FC236}">
                <a16:creationId xmlns:a16="http://schemas.microsoft.com/office/drawing/2014/main" id="{69876E98-1E05-5796-0E0F-E655C82B41FC}"/>
              </a:ext>
            </a:extLst>
          </p:cNvPr>
          <p:cNvSpPr/>
          <p:nvPr/>
        </p:nvSpPr>
        <p:spPr>
          <a:xfrm>
            <a:off x="6955612" y="2386780"/>
            <a:ext cx="2886478" cy="2084439"/>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It shows which nurses assisted physicians and the examination room where they were scheduled.</a:t>
            </a:r>
          </a:p>
        </p:txBody>
      </p:sp>
    </p:spTree>
    <p:extLst>
      <p:ext uri="{BB962C8B-B14F-4D97-AF65-F5344CB8AC3E}">
        <p14:creationId xmlns:p14="http://schemas.microsoft.com/office/powerpoint/2010/main" val="4277664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312A8-9BA5-88A7-1322-C4AD64A0FC67}"/>
              </a:ext>
            </a:extLst>
          </p:cNvPr>
          <p:cNvSpPr>
            <a:spLocks noGrp="1"/>
          </p:cNvSpPr>
          <p:nvPr>
            <p:ph type="title"/>
          </p:nvPr>
        </p:nvSpPr>
        <p:spPr/>
        <p:txBody>
          <a:bodyPr>
            <a:normAutofit/>
          </a:bodyPr>
          <a:lstStyle/>
          <a:p>
            <a:r>
              <a:rPr lang="en-US" sz="2000" dirty="0"/>
              <a:t> Q. Write a query in SQL to find the name of the patients, their treating physicians and medication</a:t>
            </a:r>
          </a:p>
        </p:txBody>
      </p:sp>
      <p:pic>
        <p:nvPicPr>
          <p:cNvPr id="4" name="Picture 3">
            <a:extLst>
              <a:ext uri="{FF2B5EF4-FFF2-40B4-BE49-F238E27FC236}">
                <a16:creationId xmlns:a16="http://schemas.microsoft.com/office/drawing/2014/main" id="{6BD343F6-E233-B190-AF8F-B432EAA3DAE4}"/>
              </a:ext>
            </a:extLst>
          </p:cNvPr>
          <p:cNvPicPr>
            <a:picLocks noChangeAspect="1"/>
          </p:cNvPicPr>
          <p:nvPr/>
        </p:nvPicPr>
        <p:blipFill>
          <a:blip r:embed="rId2"/>
          <a:stretch>
            <a:fillRect/>
          </a:stretch>
        </p:blipFill>
        <p:spPr>
          <a:xfrm>
            <a:off x="1890965" y="1800336"/>
            <a:ext cx="3742919" cy="2358709"/>
          </a:xfrm>
          <a:prstGeom prst="rect">
            <a:avLst/>
          </a:prstGeom>
        </p:spPr>
      </p:pic>
      <p:pic>
        <p:nvPicPr>
          <p:cNvPr id="6" name="Picture 5">
            <a:extLst>
              <a:ext uri="{FF2B5EF4-FFF2-40B4-BE49-F238E27FC236}">
                <a16:creationId xmlns:a16="http://schemas.microsoft.com/office/drawing/2014/main" id="{7E61A708-3C54-34E1-8C6E-FFECA707FDEA}"/>
              </a:ext>
            </a:extLst>
          </p:cNvPr>
          <p:cNvPicPr>
            <a:picLocks noChangeAspect="1"/>
          </p:cNvPicPr>
          <p:nvPr/>
        </p:nvPicPr>
        <p:blipFill>
          <a:blip r:embed="rId3"/>
          <a:stretch>
            <a:fillRect/>
          </a:stretch>
        </p:blipFill>
        <p:spPr>
          <a:xfrm>
            <a:off x="1890965" y="4621162"/>
            <a:ext cx="3448531" cy="1707261"/>
          </a:xfrm>
          <a:prstGeom prst="rect">
            <a:avLst/>
          </a:prstGeom>
        </p:spPr>
      </p:pic>
      <p:sp>
        <p:nvSpPr>
          <p:cNvPr id="7" name="Rectangle: Rounded Corners 6">
            <a:extLst>
              <a:ext uri="{FF2B5EF4-FFF2-40B4-BE49-F238E27FC236}">
                <a16:creationId xmlns:a16="http://schemas.microsoft.com/office/drawing/2014/main" id="{BA6BFAF4-B12C-653B-D459-AAA8534EEB9D}"/>
              </a:ext>
            </a:extLst>
          </p:cNvPr>
          <p:cNvSpPr/>
          <p:nvPr/>
        </p:nvSpPr>
        <p:spPr>
          <a:xfrm>
            <a:off x="7600336" y="2329578"/>
            <a:ext cx="2831690" cy="2448899"/>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This query shows the name of the patient and the physicians treating them along with Medications.</a:t>
            </a:r>
          </a:p>
        </p:txBody>
      </p:sp>
    </p:spTree>
    <p:extLst>
      <p:ext uri="{BB962C8B-B14F-4D97-AF65-F5344CB8AC3E}">
        <p14:creationId xmlns:p14="http://schemas.microsoft.com/office/powerpoint/2010/main" val="2553348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755E-B35D-2ADB-E8B7-4E5B92F67906}"/>
              </a:ext>
            </a:extLst>
          </p:cNvPr>
          <p:cNvSpPr>
            <a:spLocks noGrp="1"/>
          </p:cNvSpPr>
          <p:nvPr>
            <p:ph type="title"/>
          </p:nvPr>
        </p:nvSpPr>
        <p:spPr/>
        <p:txBody>
          <a:bodyPr>
            <a:normAutofit/>
          </a:bodyPr>
          <a:lstStyle/>
          <a:p>
            <a:r>
              <a:rPr lang="en-US" sz="2000" dirty="0"/>
              <a:t>Q. Write a query in SQL to count the number of available rooms for each block in each floor</a:t>
            </a:r>
          </a:p>
        </p:txBody>
      </p:sp>
      <p:pic>
        <p:nvPicPr>
          <p:cNvPr id="4" name="Picture 3">
            <a:extLst>
              <a:ext uri="{FF2B5EF4-FFF2-40B4-BE49-F238E27FC236}">
                <a16:creationId xmlns:a16="http://schemas.microsoft.com/office/drawing/2014/main" id="{5342DD7D-3403-D59F-B481-4F87E9AF2E2C}"/>
              </a:ext>
            </a:extLst>
          </p:cNvPr>
          <p:cNvPicPr>
            <a:picLocks noChangeAspect="1"/>
          </p:cNvPicPr>
          <p:nvPr/>
        </p:nvPicPr>
        <p:blipFill>
          <a:blip r:embed="rId2"/>
          <a:stretch>
            <a:fillRect/>
          </a:stretch>
        </p:blipFill>
        <p:spPr>
          <a:xfrm>
            <a:off x="1848465" y="1690688"/>
            <a:ext cx="3048000" cy="2025906"/>
          </a:xfrm>
          <a:prstGeom prst="rect">
            <a:avLst/>
          </a:prstGeom>
        </p:spPr>
      </p:pic>
      <p:pic>
        <p:nvPicPr>
          <p:cNvPr id="6" name="Picture 5">
            <a:extLst>
              <a:ext uri="{FF2B5EF4-FFF2-40B4-BE49-F238E27FC236}">
                <a16:creationId xmlns:a16="http://schemas.microsoft.com/office/drawing/2014/main" id="{D9FF1765-A594-4278-6784-83D4C664B467}"/>
              </a:ext>
            </a:extLst>
          </p:cNvPr>
          <p:cNvPicPr>
            <a:picLocks noChangeAspect="1"/>
          </p:cNvPicPr>
          <p:nvPr/>
        </p:nvPicPr>
        <p:blipFill>
          <a:blip r:embed="rId3"/>
          <a:stretch>
            <a:fillRect/>
          </a:stretch>
        </p:blipFill>
        <p:spPr>
          <a:xfrm>
            <a:off x="1848465" y="4208206"/>
            <a:ext cx="3539880" cy="2284669"/>
          </a:xfrm>
          <a:prstGeom prst="rect">
            <a:avLst/>
          </a:prstGeom>
        </p:spPr>
      </p:pic>
      <p:sp>
        <p:nvSpPr>
          <p:cNvPr id="7" name="Rectangle: Rounded Corners 6">
            <a:extLst>
              <a:ext uri="{FF2B5EF4-FFF2-40B4-BE49-F238E27FC236}">
                <a16:creationId xmlns:a16="http://schemas.microsoft.com/office/drawing/2014/main" id="{EF593DEC-2543-0073-BA68-8DF1F7C95934}"/>
              </a:ext>
            </a:extLst>
          </p:cNvPr>
          <p:cNvSpPr/>
          <p:nvPr/>
        </p:nvSpPr>
        <p:spPr>
          <a:xfrm>
            <a:off x="8072283" y="2674374"/>
            <a:ext cx="2930014" cy="2025906"/>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It shows us the number of rooms available for each block on each floor.</a:t>
            </a:r>
          </a:p>
        </p:txBody>
      </p:sp>
    </p:spTree>
    <p:extLst>
      <p:ext uri="{BB962C8B-B14F-4D97-AF65-F5344CB8AC3E}">
        <p14:creationId xmlns:p14="http://schemas.microsoft.com/office/powerpoint/2010/main" val="1163541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483EE-C1E1-B40F-68B7-841C4AC46B88}"/>
              </a:ext>
            </a:extLst>
          </p:cNvPr>
          <p:cNvSpPr>
            <a:spLocks noGrp="1"/>
          </p:cNvSpPr>
          <p:nvPr>
            <p:ph type="title"/>
          </p:nvPr>
        </p:nvSpPr>
        <p:spPr/>
        <p:txBody>
          <a:bodyPr/>
          <a:lstStyle/>
          <a:p>
            <a:r>
              <a:rPr lang="en-US" b="1" dirty="0">
                <a:solidFill>
                  <a:srgbClr val="FF0000"/>
                </a:solidFill>
              </a:rPr>
              <a:t>Business Insights </a:t>
            </a:r>
            <a:endParaRPr lang="en-US" dirty="0"/>
          </a:p>
        </p:txBody>
      </p:sp>
      <p:sp>
        <p:nvSpPr>
          <p:cNvPr id="3" name="Text Placeholder 2">
            <a:extLst>
              <a:ext uri="{FF2B5EF4-FFF2-40B4-BE49-F238E27FC236}">
                <a16:creationId xmlns:a16="http://schemas.microsoft.com/office/drawing/2014/main" id="{7FA5B5F8-BDAA-812E-CC25-224CD7789960}"/>
              </a:ext>
            </a:extLst>
          </p:cNvPr>
          <p:cNvSpPr>
            <a:spLocks noGrp="1"/>
          </p:cNvSpPr>
          <p:nvPr>
            <p:ph type="body" idx="1"/>
          </p:nvPr>
        </p:nvSpPr>
        <p:spPr/>
        <p:txBody>
          <a:bodyPr>
            <a:normAutofit fontScale="92500" lnSpcReduction="20000"/>
          </a:bodyPr>
          <a:lstStyle/>
          <a:p>
            <a:r>
              <a:rPr lang="en-US" sz="2400" dirty="0"/>
              <a:t>Helps in managing </a:t>
            </a:r>
            <a:r>
              <a:rPr lang="en-US" sz="2400" u="sng" dirty="0"/>
              <a:t>redistribution of patients </a:t>
            </a:r>
            <a:r>
              <a:rPr lang="en-US" sz="2400" dirty="0"/>
              <a:t>and prevents </a:t>
            </a:r>
            <a:r>
              <a:rPr lang="en-US" sz="2400" u="sng" dirty="0"/>
              <a:t>Doctor overload.</a:t>
            </a:r>
          </a:p>
          <a:p>
            <a:endParaRPr lang="en-US" sz="2400" dirty="0"/>
          </a:p>
          <a:p>
            <a:r>
              <a:rPr lang="en-US" sz="2400" dirty="0"/>
              <a:t>Patient’s medical history enables better </a:t>
            </a:r>
            <a:r>
              <a:rPr lang="en-US" sz="2400" u="sng" dirty="0"/>
              <a:t>clinical decision.</a:t>
            </a:r>
          </a:p>
          <a:p>
            <a:endParaRPr lang="en-US" sz="2400" dirty="0"/>
          </a:p>
          <a:p>
            <a:r>
              <a:rPr lang="en-US" sz="2400" dirty="0"/>
              <a:t>By analyzing the </a:t>
            </a:r>
            <a:r>
              <a:rPr lang="en-US" sz="2400" u="sng" dirty="0"/>
              <a:t>staff scheduling </a:t>
            </a:r>
            <a:r>
              <a:rPr lang="en-US" sz="2400" dirty="0"/>
              <a:t>it can ensure adequate patient support.</a:t>
            </a:r>
          </a:p>
          <a:p>
            <a:endParaRPr lang="en-US" sz="2400" dirty="0"/>
          </a:p>
          <a:p>
            <a:r>
              <a:rPr lang="en-US" sz="2400" dirty="0"/>
              <a:t>This project improves </a:t>
            </a:r>
            <a:r>
              <a:rPr lang="en-US" sz="2400" u="sng" dirty="0"/>
              <a:t>Hospital compliance.</a:t>
            </a:r>
          </a:p>
          <a:p>
            <a:endParaRPr lang="en-US" sz="2400" dirty="0"/>
          </a:p>
          <a:p>
            <a:r>
              <a:rPr lang="en-US" sz="2400" dirty="0"/>
              <a:t>Helps in reducing </a:t>
            </a:r>
            <a:r>
              <a:rPr lang="en-US" sz="2400" u="sng" dirty="0"/>
              <a:t>medicine shortage </a:t>
            </a:r>
            <a:r>
              <a:rPr lang="en-US" sz="2400" dirty="0"/>
              <a:t>and control </a:t>
            </a:r>
            <a:r>
              <a:rPr lang="en-US" sz="2400" u="sng" dirty="0"/>
              <a:t>pharmacy cost.</a:t>
            </a:r>
          </a:p>
          <a:p>
            <a:endParaRPr lang="en-US" sz="2400" dirty="0"/>
          </a:p>
          <a:p>
            <a:r>
              <a:rPr lang="en-US" sz="2400" dirty="0"/>
              <a:t>Helps managing </a:t>
            </a:r>
            <a:r>
              <a:rPr lang="en-US" sz="2400" u="sng" dirty="0"/>
              <a:t>Admissions</a:t>
            </a:r>
            <a:r>
              <a:rPr lang="en-US" sz="2400" dirty="0"/>
              <a:t> efficiently and </a:t>
            </a:r>
            <a:r>
              <a:rPr lang="en-US" sz="2400" u="sng" dirty="0"/>
              <a:t>avoids overbooking</a:t>
            </a:r>
            <a:r>
              <a:rPr lang="en-US" sz="2400" dirty="0"/>
              <a:t>.</a:t>
            </a:r>
          </a:p>
        </p:txBody>
      </p:sp>
    </p:spTree>
    <p:extLst>
      <p:ext uri="{BB962C8B-B14F-4D97-AF65-F5344CB8AC3E}">
        <p14:creationId xmlns:p14="http://schemas.microsoft.com/office/powerpoint/2010/main" val="4014508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10910-33E7-5166-0E4D-E6FAF051D172}"/>
              </a:ext>
            </a:extLst>
          </p:cNvPr>
          <p:cNvSpPr>
            <a:spLocks noGrp="1"/>
          </p:cNvSpPr>
          <p:nvPr>
            <p:ph type="title"/>
          </p:nvPr>
        </p:nvSpPr>
        <p:spPr>
          <a:xfrm>
            <a:off x="838200" y="-589935"/>
            <a:ext cx="10515600" cy="2546554"/>
          </a:xfrm>
        </p:spPr>
        <p:txBody>
          <a:bodyPr>
            <a:normAutofit/>
          </a:bodyPr>
          <a:lstStyle/>
          <a:p>
            <a:r>
              <a:rPr lang="en-US" sz="3600" b="1" dirty="0">
                <a:solidFill>
                  <a:srgbClr val="FF0000"/>
                </a:solidFill>
              </a:rPr>
              <a:t>Experience and challenges</a:t>
            </a:r>
          </a:p>
        </p:txBody>
      </p:sp>
      <p:sp>
        <p:nvSpPr>
          <p:cNvPr id="3" name="Text Placeholder 2">
            <a:extLst>
              <a:ext uri="{FF2B5EF4-FFF2-40B4-BE49-F238E27FC236}">
                <a16:creationId xmlns:a16="http://schemas.microsoft.com/office/drawing/2014/main" id="{D7395755-9360-76BD-37E1-E4DA07A573C9}"/>
              </a:ext>
            </a:extLst>
          </p:cNvPr>
          <p:cNvSpPr>
            <a:spLocks noGrp="1"/>
          </p:cNvSpPr>
          <p:nvPr>
            <p:ph type="body" idx="1"/>
          </p:nvPr>
        </p:nvSpPr>
        <p:spPr>
          <a:xfrm>
            <a:off x="838200" y="1150374"/>
            <a:ext cx="10515600" cy="5026589"/>
          </a:xfrm>
        </p:spPr>
        <p:txBody>
          <a:bodyPr>
            <a:normAutofit lnSpcReduction="10000"/>
          </a:bodyPr>
          <a:lstStyle/>
          <a:p>
            <a:pPr>
              <a:buFont typeface="Wingdings" panose="05000000000000000000" pitchFamily="2" charset="2"/>
              <a:buChar char="v"/>
            </a:pPr>
            <a:r>
              <a:rPr lang="en-US" sz="2400" dirty="0"/>
              <a:t>Challenges :- </a:t>
            </a:r>
          </a:p>
          <a:p>
            <a:r>
              <a:rPr lang="en-US" sz="2400" dirty="0"/>
              <a:t>Maintaining Data Integrity and constraints.</a:t>
            </a:r>
          </a:p>
          <a:p>
            <a:r>
              <a:rPr lang="en-US" sz="2400" dirty="0"/>
              <a:t>Writing Complex Multi-Table join queries.</a:t>
            </a:r>
          </a:p>
          <a:p>
            <a:r>
              <a:rPr lang="en-US" sz="2400" dirty="0"/>
              <a:t>Avoiding Duplicates Records in Aggregations.</a:t>
            </a:r>
          </a:p>
          <a:p>
            <a:r>
              <a:rPr lang="en-US" sz="2400" dirty="0"/>
              <a:t>Maintaining Logical Consistency Across Table.</a:t>
            </a:r>
          </a:p>
          <a:p>
            <a:endParaRPr lang="en-US" dirty="0"/>
          </a:p>
          <a:p>
            <a:pPr>
              <a:buFont typeface="Wingdings" panose="05000000000000000000" pitchFamily="2" charset="2"/>
              <a:buChar char="v"/>
            </a:pPr>
            <a:r>
              <a:rPr lang="en-US" dirty="0"/>
              <a:t>Experience :- </a:t>
            </a:r>
          </a:p>
          <a:p>
            <a:pPr>
              <a:buFont typeface="Arial" panose="020B0604020202020204" pitchFamily="34" charset="0"/>
              <a:buChar char="•"/>
            </a:pPr>
            <a:r>
              <a:rPr lang="en-US" dirty="0"/>
              <a:t>Strong understanding of Relational Database.</a:t>
            </a:r>
          </a:p>
          <a:p>
            <a:pPr>
              <a:buFont typeface="Arial" panose="020B0604020202020204" pitchFamily="34" charset="0"/>
              <a:buChar char="•"/>
            </a:pPr>
            <a:r>
              <a:rPr lang="en-US" dirty="0"/>
              <a:t>Problem Solving and Analytical Thinking.</a:t>
            </a:r>
          </a:p>
          <a:p>
            <a:pPr>
              <a:buFont typeface="Arial" panose="020B0604020202020204" pitchFamily="34" charset="0"/>
              <a:buChar char="•"/>
            </a:pPr>
            <a:r>
              <a:rPr lang="en-US" dirty="0"/>
              <a:t>Confidence Working with Large Schema.</a:t>
            </a:r>
          </a:p>
          <a:p>
            <a:pPr>
              <a:buFont typeface="Arial" panose="020B0604020202020204" pitchFamily="34" charset="0"/>
              <a:buChar char="•"/>
            </a:pPr>
            <a:r>
              <a:rPr lang="en-US" dirty="0"/>
              <a:t>Understanding Data Dependency. </a:t>
            </a:r>
          </a:p>
          <a:p>
            <a:pPr marL="114300" indent="0">
              <a:buNone/>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885999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128FE-2014-E75A-5583-CA2FF207A433}"/>
              </a:ext>
            </a:extLst>
          </p:cNvPr>
          <p:cNvSpPr>
            <a:spLocks noGrp="1"/>
          </p:cNvSpPr>
          <p:nvPr>
            <p:ph type="title"/>
          </p:nvPr>
        </p:nvSpPr>
        <p:spPr/>
        <p:txBody>
          <a:bodyPr>
            <a:normAutofit/>
          </a:bodyPr>
          <a:lstStyle/>
          <a:p>
            <a:r>
              <a:rPr lang="en-US" sz="3600" b="1" dirty="0">
                <a:solidFill>
                  <a:srgbClr val="FF0000"/>
                </a:solidFill>
              </a:rPr>
              <a:t>Conclusion</a:t>
            </a:r>
          </a:p>
        </p:txBody>
      </p:sp>
      <p:sp>
        <p:nvSpPr>
          <p:cNvPr id="3" name="Text Placeholder 2">
            <a:extLst>
              <a:ext uri="{FF2B5EF4-FFF2-40B4-BE49-F238E27FC236}">
                <a16:creationId xmlns:a16="http://schemas.microsoft.com/office/drawing/2014/main" id="{0A6F988B-8768-1BDB-D30D-74BB327EE1A5}"/>
              </a:ext>
            </a:extLst>
          </p:cNvPr>
          <p:cNvSpPr>
            <a:spLocks noGrp="1"/>
          </p:cNvSpPr>
          <p:nvPr>
            <p:ph type="body" idx="1"/>
          </p:nvPr>
        </p:nvSpPr>
        <p:spPr/>
        <p:txBody>
          <a:bodyPr>
            <a:normAutofit fontScale="92500"/>
          </a:bodyPr>
          <a:lstStyle/>
          <a:p>
            <a:r>
              <a:rPr lang="en-US" sz="2600" dirty="0"/>
              <a:t>This project successfully implements a Hospital Database Management System using SQL to handle real-world healthcare data. </a:t>
            </a:r>
          </a:p>
          <a:p>
            <a:r>
              <a:rPr lang="en-US" sz="2600" dirty="0"/>
              <a:t>The database design captures complex relationships between patients, doctors, nurses, departments, and treatments. Proper use of primary keys, foreign keys, and normalization ensures data accuracy and eliminates redundancy. </a:t>
            </a:r>
          </a:p>
          <a:p>
            <a:r>
              <a:rPr lang="en-US" sz="2600" dirty="0"/>
              <a:t>The system enables efficient tracking of appointments, procedures, medications, and room allocations. </a:t>
            </a:r>
          </a:p>
          <a:p>
            <a:r>
              <a:rPr lang="en-US" sz="2600" dirty="0"/>
              <a:t>Advanced SQL queries provide meaningful insights into hospital operations and compliance. The project demonstrates strong understanding of relational database concepts. Overall, it serves as a practical example of structured data management in a healthcare environment</a:t>
            </a:r>
            <a:r>
              <a:rPr lang="en-US" dirty="0"/>
              <a:t>.</a:t>
            </a:r>
          </a:p>
        </p:txBody>
      </p:sp>
    </p:spTree>
    <p:extLst>
      <p:ext uri="{BB962C8B-B14F-4D97-AF65-F5344CB8AC3E}">
        <p14:creationId xmlns:p14="http://schemas.microsoft.com/office/powerpoint/2010/main" val="683533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400</TotalTime>
  <Words>875</Words>
  <Application>Microsoft Office PowerPoint</Application>
  <PresentationFormat>Widescreen</PresentationFormat>
  <Paragraphs>89</Paragraphs>
  <Slides>17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Libre Baskerville</vt:lpstr>
      <vt:lpstr>Calibri</vt:lpstr>
      <vt:lpstr>Arial</vt:lpstr>
      <vt:lpstr>Lato Black</vt:lpstr>
      <vt:lpstr>Wingdings</vt:lpstr>
      <vt:lpstr>Office Theme</vt:lpstr>
      <vt:lpstr>PowerPoint Presentation</vt:lpstr>
      <vt:lpstr>PowerPoint Presentation</vt:lpstr>
      <vt:lpstr>Agenda</vt:lpstr>
      <vt:lpstr>Project Storyline </vt:lpstr>
      <vt:lpstr>Problem Statement </vt:lpstr>
      <vt:lpstr>Why Relational Database Is Needed ? </vt:lpstr>
      <vt:lpstr>ER Diagram and Schema Explanation</vt:lpstr>
      <vt:lpstr>SQL Queries with Summaries  Q. Write a query in SQL to obtain the name of the physicians with department who are yet to be affiliated</vt:lpstr>
      <vt:lpstr>Q. Write a query in SQL to obtain the name of the patients with their physicians by whom they got their preliminary treatment </vt:lpstr>
      <vt:lpstr>Q. Write a query in SQL to find the name of the patients and the number of physicians they have taken appointment.</vt:lpstr>
      <vt:lpstr> Q. Write a query in SQL to find the name of the nurses and the room scheduled, where they will assist the physicians</vt:lpstr>
      <vt:lpstr> Q. Write a query in SQL to find the name of the patients, their treating physicians and medication</vt:lpstr>
      <vt:lpstr>Q. Write a query in SQL to count the number of available rooms for each block in each floor</vt:lpstr>
      <vt:lpstr>Business Insights </vt:lpstr>
      <vt:lpstr>Experience and challenges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sonia yenpure</cp:lastModifiedBy>
  <cp:revision>4</cp:revision>
  <dcterms:created xsi:type="dcterms:W3CDTF">2021-02-16T05:19:01Z</dcterms:created>
  <dcterms:modified xsi:type="dcterms:W3CDTF">2025-12-21T14:59:09Z</dcterms:modified>
</cp:coreProperties>
</file>